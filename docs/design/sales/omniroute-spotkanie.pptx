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6B58"/>
                </a:solidFill>
                <a:latin typeface="Calibri"/>
              </a:rPr>
              <a:t>OMNIROUTE  ·  SPEDYCJA W JEDNYM TENANCIE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8F6"/>
                </a:solidFill>
                <a:latin typeface="Calibri"/>
              </a:rPr>
              <a:t>Operator nie przepisuje maila.
Decyduje na jednym ekranie.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Calibri"/>
              </a:rPr>
              <a:t>Dziś praca siedzi w skrzynce: zła strona kontaktu, brak HS blokuje ofertę,
marża ginie między arkuszem a fakturą. OmniRoute składa HITL → SQL → charge
→ zlecenie. Model nie liczy. Człowiek zatwierdza zanim coś wejdzie do SoR.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C4BA"/>
                </a:solidFill>
                <a:latin typeface="Calibri"/>
              </a:rPr>
              <a:t>Spotkanie produktowe  ·  makieta działająca, nie slajd-wizja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B58"/>
                </a:solidFill>
                <a:latin typeface="Calibri"/>
              </a:rPr>
              <a:t>KOSZT BEZCZYNNOŚCI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32E"/>
                </a:solidFill>
                <a:latin typeface="Calibri"/>
              </a:rPr>
              <a:t>Rynek już zapłacił za przepisywanie i rok wdrożenia.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E2A"/>
                </a:solidFill>
                <a:latin typeface="Calibri"/>
              </a:rPr>
              <a:t>Podwójne wpisywanie i „umierający” TMS — powód migracji nr 1 (zestawienie case’ów Qargo / SPEED).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E2A"/>
                </a:solidFill>
                <a:latin typeface="Calibri"/>
              </a:rPr>
              <a:t>Odpowiedzi agentów lądują w Gmailu i nie wracają do SoR — luka potwierdzona przy Magaya / overlayach.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E2A"/>
                </a:solidFill>
                <a:latin typeface="Calibri"/>
              </a:rPr>
              <a:t>Wdrożenia legacy bolą: poślizg mierzony w miesiącach, nie w sprintach (SPEED, case’y operatorów).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E2A"/>
                </a:solidFill>
                <a:latin typeface="Calibri"/>
              </a:rPr>
              <a:t>Rynek obiecuje mniej administracji przy AI order entry — to oczekiwanie klienta, nie nasz KPI.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E2A"/>
                </a:solidFill>
                <a:latin typeface="Calibri"/>
              </a:rPr>
              <a:t>Czego wciąż brak: łańcuch skutków na zleceniu, HITL przed zapisem, jedna prawda o marży.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57"/>
                </a:solidFill>
                <a:latin typeface="Calibri"/>
              </a:rPr>
              <a:t>OmniRoute  ·  spotkanie produktowe  ·  makieta, nie produkcja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C57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B58"/>
                </a:solidFill>
                <a:latin typeface="Calibri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32E"/>
                </a:solidFill>
                <a:latin typeface="Calibri"/>
              </a:rPr>
              <a:t>Cztery zdania. Reszta to egzekucja.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394960" cy="196596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32E"/>
                </a:solidFill>
                <a:latin typeface="Calibri"/>
              </a:rPr>
              <a:t>Tenant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E2A"/>
                </a:solidFill>
                <a:latin typeface="Calibri"/>
              </a:rPr>
              <a:t>Każdy wiersz ma organization_id. RLS w bazie. Zero zapytań cross-tenant.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394960" cy="196596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32E"/>
                </a:solidFill>
                <a:latin typeface="Calibri"/>
              </a:rPr>
              <a:t>HITL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E2A"/>
                </a:solidFill>
                <a:latin typeface="Calibri"/>
              </a:rPr>
              <a:t>Model wyciąga. Kod przetwarza. Nic z ekstrakcji nie wchodzi bez akceptacji.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5394960" cy="196596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32E"/>
                </a:solidFill>
                <a:latin typeface="Calibri"/>
              </a:rPr>
              <a:t>charge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E2A"/>
                </a:solidFill>
                <a:latin typeface="Calibri"/>
              </a:rPr>
              <a:t>Jedyny wiersz kupno + sprzedaż. Marża nie mieszka w arkuszu ani w LLM.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566160"/>
            <a:ext cx="5394960" cy="196596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32E"/>
                </a:solidFill>
                <a:latin typeface="Calibri"/>
              </a:rPr>
              <a:t>SQL, nie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206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E2A"/>
                </a:solidFill>
                <a:latin typeface="Calibri"/>
              </a:rPr>
              <a:t>Wycena i matching w Postgresie. Kwota to Decimal ze stringiem na UI.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57"/>
                </a:solidFill>
                <a:latin typeface="Calibri"/>
              </a:rPr>
              <a:t>OmniRoute  ·  spotkanie produktowe  ·  makieta, nie produkcja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C57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B58"/>
                </a:solidFill>
                <a:latin typeface="Calibri"/>
              </a:rPr>
              <a:t>DOWÓD NA EKRANIE  ·  DZIEŃ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332E"/>
                </a:solidFill>
                <a:latin typeface="Calibri"/>
              </a:rPr>
              <a:t>Joby do zamknięcia — nie skrzynka do przeszukiwania.</a:t>
            </a:r>
          </a:p>
        </p:txBody>
      </p:sp>
      <p:pic>
        <p:nvPicPr>
          <p:cNvPr id="6" name="Picture 5" descr="demo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24128"/>
            <a:ext cx="8229600" cy="514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C57"/>
                </a:solidFill>
                <a:latin typeface="Calibri"/>
              </a:rPr>
              <a:t>HITL, brak HS, luka ISPS, lookup tax_id. Tenant z paska.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57"/>
                </a:solidFill>
                <a:latin typeface="Calibri"/>
              </a:rPr>
              <a:t>OmniRoute  ·  spotkanie produktowe  ·  makieta, nie produkcja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C57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B58"/>
                </a:solidFill>
                <a:latin typeface="Calibri"/>
              </a:rPr>
              <a:t>DOWÓD  ·  EKSTRAKCJA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332E"/>
                </a:solidFill>
                <a:latin typeface="Calibri"/>
              </a:rPr>
              <a:t>Szkic z PDF. Accept to jedna transakcja.</a:t>
            </a:r>
          </a:p>
        </p:txBody>
      </p:sp>
      <p:pic>
        <p:nvPicPr>
          <p:cNvPr id="6" name="Picture 5" descr="demo-hi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24128"/>
            <a:ext cx="8229600" cy="514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C57"/>
                </a:solidFill>
                <a:latin typeface="Calibri"/>
              </a:rPr>
              <a:t>ExtractionService nie importuje stawek. source_ref zostaje. Art. 50 na recenzji.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57"/>
                </a:solidFill>
                <a:latin typeface="Calibri"/>
              </a:rPr>
              <a:t>OmniRoute  ·  spotkanie produktowe  ·  makieta, nie produkcja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C57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B58"/>
                </a:solidFill>
                <a:latin typeface="Calibri"/>
              </a:rPr>
              <a:t>DOWÓD  ·  WYCENA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332E"/>
                </a:solidFill>
                <a:latin typeface="Calibri"/>
              </a:rPr>
              <a:t>Warianty, HS, Incoterm po negocjacji. Send dopiero gdy komplet.</a:t>
            </a:r>
          </a:p>
        </p:txBody>
      </p:sp>
      <p:pic>
        <p:nvPicPr>
          <p:cNvPr id="6" name="Picture 5" descr="demo-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24128"/>
            <a:ext cx="8229600" cy="514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C57"/>
                </a:solidFill>
                <a:latin typeface="Calibri"/>
              </a:rPr>
              <a:t>FOB → DAP Lima zapisane jako zmiana, nie milcząca sprzeczność. Marża z charge.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57"/>
                </a:solidFill>
                <a:latin typeface="Calibri"/>
              </a:rPr>
              <a:t>OmniRoute  ·  spotkanie produktowe  ·  makieta, nie produkcja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C57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B58"/>
                </a:solidFill>
                <a:latin typeface="Calibri"/>
              </a:rPr>
              <a:t>DOWÓD  ·  ZLECENIE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332E"/>
                </a:solidFill>
                <a:latin typeface="Calibri"/>
              </a:rPr>
              <a:t>Legi z rolami, semafor free-time, pakiet celny.</a:t>
            </a:r>
          </a:p>
        </p:txBody>
      </p:sp>
      <p:pic>
        <p:nvPicPr>
          <p:cNvPr id="6" name="Picture 5" descr="demo-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24128"/>
            <a:ext cx="8229600" cy="514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C57"/>
                </a:solidFill>
                <a:latin typeface="Calibri"/>
              </a:rPr>
              <a:t>Agent ≠ armator. Dokumenty i odprawa wg Incoterms. Mapa AIS tylko tu.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57"/>
                </a:solidFill>
                <a:latin typeface="Calibri"/>
              </a:rPr>
              <a:t>OmniRoute  ·  spotkanie produktowe  ·  makieta, nie produkcja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C57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B58"/>
                </a:solidFill>
                <a:latin typeface="Calibri"/>
              </a:rPr>
              <a:t>DOKĄD ZMIERZA  ·  OŚ 2026-09-08c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32E"/>
                </a:solidFill>
                <a:latin typeface="Calibri"/>
              </a:rPr>
              <a:t>Zbudowane vs w kolejce. Bez teatru.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6B58"/>
                </a:solidFill>
                <a:latin typeface="Calibri"/>
              </a:rPr>
              <a:t>DZIAŁA W PRODUKCIE / MAKIECIE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E2E2A"/>
                </a:solidFill>
                <a:latin typeface="Calibri"/>
              </a:rPr>
              <a:t>Tenant, RLS, OpenFGA, HITL accept → rate_line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E2E2A"/>
                </a:solidFill>
                <a:latin typeface="Calibri"/>
              </a:rPr>
              <a:t>charge buy+sell, silnik wyceny SQL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E2E2A"/>
                </a:solidFill>
                <a:latin typeface="Calibri"/>
              </a:rPr>
              <a:t>Zlecenie z rolami na legu i dokumentami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E2E2A"/>
                </a:solidFill>
                <a:latin typeface="Calibri"/>
              </a:rPr>
              <a:t>Semafor storage / detention z dni serwera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E2E2A"/>
                </a:solidFill>
                <a:latin typeface="Calibri"/>
              </a:rPr>
              <a:t>Pakiet celny: odbiorca × Incoterms, HITL send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6A28"/>
                </a:solidFill>
                <a:latin typeface="Calibri"/>
              </a:rPr>
              <a:t>W KOLEJCE PLANU (NIE OBIECUJEMY DZIŚ)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E2E2A"/>
                </a:solidFill>
                <a:latin typeface="Calibri"/>
              </a:rPr>
              <a:t>O — buy-desk na ofercie (wątki, nie drugi Outlook)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E2E2A"/>
                </a:solidFill>
                <a:latin typeface="Calibri"/>
              </a:rPr>
              <a:t>I — katalog Incoterms jako dane, nie zgadywanie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E2E2A"/>
                </a:solidFill>
                <a:latin typeface="Calibri"/>
              </a:rPr>
              <a:t>C — odprawa jako ścieżka, nie „odprawiamy świat”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E2E2A"/>
                </a:solidFill>
                <a:latin typeface="Calibri"/>
              </a:rPr>
              <a:t>V — wieża skutków, nie druga mapa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E2E2A"/>
                </a:solidFill>
                <a:latin typeface="Calibri"/>
              </a:rPr>
              <a:t>Demo-1 — pierwszy tenant na żywych danych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57"/>
                </a:solidFill>
                <a:latin typeface="Calibri"/>
              </a:rPr>
              <a:t>OmniRoute  ·  spotkanie produktowe  ·  makieta, nie produkcja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C57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B58"/>
                </a:solidFill>
                <a:latin typeface="Calibri"/>
              </a:rPr>
              <a:t>BEZPIECZEŃSTWO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32E"/>
                </a:solidFill>
                <a:latin typeface="Calibri"/>
              </a:rPr>
              <a:t>To nie dodatek. To warunek sprzedaży.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E2A"/>
                </a:solidFill>
                <a:latin typeface="Calibri"/>
              </a:rPr>
              <a:t>Izolacja tenantów w Postgres (RLS). Brak zapytania cross-tenant = błąd blokujący.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E2A"/>
                </a:solidFill>
                <a:latin typeface="Calibri"/>
              </a:rPr>
              <a:t>Sekrety kanałów szyfrowane kluczem tenanta. Nigdy w kodzie, logu ani promptcie.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E2A"/>
                </a:solidFill>
                <a:latin typeface="Calibri"/>
              </a:rPr>
              <a:t>Endpoint bez jawnej relacji OpenFGA = odmowa. Brak uprawnienia nie jest tostem.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E2A"/>
                </a:solidFill>
                <a:latin typeface="Calibri"/>
              </a:rPr>
              <a:t>Zero AI na umowach i taryfach jako źródle prawdy (CI9). Model nie liczy marży, VAT, kursu.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E2A"/>
                </a:solidFill>
                <a:latin typeface="Calibri"/>
              </a:rPr>
              <a:t>Guard na wejściu ekstrakcji. Zapis do SoR tylko po człowieku.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57"/>
                </a:solidFill>
                <a:latin typeface="Calibri"/>
              </a:rPr>
              <a:t>OmniRoute  ·  spotkanie produktowe  ·  makieta, nie produkcja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C57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6B58"/>
                </a:solidFill>
                <a:latin typeface="Calibri"/>
              </a:rPr>
              <a:t>NASTĘPNY KROK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8F6"/>
                </a:solidFill>
                <a:latin typeface="Calibri"/>
              </a:rPr>
              <a:t>Pilot na jednym jobie.
Nie na całym katalogu naraz.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4F8F6"/>
                </a:solidFill>
                <a:latin typeface="Calibri"/>
              </a:rPr>
              <a:t>Zakres: skrzynka → HITL → wycena DAP/FOB → zlecenie z pakietem celnym.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4F8F6"/>
                </a:solidFill>
                <a:latin typeface="Calibri"/>
              </a:rPr>
              <a:t>Dane: tenant klienta, stawki z PDF, zero live HTTP do armatora w pierwszym tygodniu.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4F8F6"/>
                </a:solidFill>
                <a:latin typeface="Calibri"/>
              </a:rPr>
              <a:t>Sukces spotkania: uzgodniony job i kto zatwierdza Accept — nie podpis na 70 modułów.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6B58"/>
                </a:solidFill>
                <a:latin typeface="Calibri"/>
              </a:rPr>
              <a:t>ANEX  ·  RYNEK, NIE NASI KLIENCI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32E"/>
                </a:solidFill>
                <a:latin typeface="Calibri"/>
              </a:rPr>
              <a:t>Ból, który już jest w case’ach TMS.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E2E2A"/>
                </a:solidFill>
                <a:latin typeface="Calibri"/>
              </a:rPr>
              <a:t>Qargo / SPEED: klienci chcą mniej przepisywania i szybszy czas-do-wartości — nie kolejny rok integracji.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E2E2A"/>
                </a:solidFill>
                <a:latin typeface="Calibri"/>
              </a:rPr>
              <a:t>Magaya + overlay (Keelway): fracht w SoR, mail poza nim. Nasza przewaga: buy-desk na ofercie, HITL przed stawką.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E2E2A"/>
                </a:solidFill>
                <a:latin typeface="Calibri"/>
              </a:rPr>
              <a:t>CargoWise: role na jobie działają; 12 poziomów menu nie. Bierzemy role, odrzucamy mega-menu.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E2E2A"/>
                </a:solidFill>
                <a:latin typeface="Calibri"/>
              </a:rPr>
              <a:t>Self-service statusu = mniej telefonów. Portal jest w horyzoncie, nie w pierwszym pilocie.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E2E2A"/>
                </a:solidFill>
                <a:latin typeface="Calibri"/>
              </a:rPr>
              <a:t>Nie cytujemy liczb OmniRoute, których nie mamy. Nie ma tu 8 minut, 15 tysięcy użytkowników ani Bayer.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57"/>
                </a:solidFill>
                <a:latin typeface="Calibri"/>
              </a:rPr>
              <a:t>OmniRoute  ·  spotkanie produktowe  ·  makieta, nie produkcja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C57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